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12192000"/>
  <p:embeddedFontLst>
    <p:embeddedFont>
      <p:font typeface="Heebo" pitchFamily="2" charset="-79"/>
      <p:regular r:id="rId10"/>
      <p:bold r:id="rId11"/>
    </p:embeddedFont>
    <p:embeddedFont>
      <p:font typeface="Heebo Light" pitchFamily="2" charset="-79"/>
      <p:regular r:id="rId12"/>
    </p:embeddedFont>
    <p:embeddedFont>
      <p:font typeface="Heebo Medium" pitchFamily="2" charset="-79"/>
      <p:regular r:id="rId13"/>
    </p:embeddedFont>
    <p:embeddedFont>
      <p:font typeface="Heebo SemiBold" panose="020B0604020202020204" charset="-79"/>
      <p:regular r:id="rId14"/>
    </p:embeddedFont>
    <p:embeddedFont>
      <p:font typeface="Montserrat Medium" panose="00000600000000000000" pitchFamily="2" charset="0"/>
      <p:regular r:id="rId15"/>
    </p:embeddedFont>
    <p:embeddedFont>
      <p:font typeface="Montserrat SemiBold" panose="00000700000000000000" pitchFamily="2" charset="0"/>
      <p:regular r:id="rId16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A7A"/>
    <a:srgbClr val="120A0E"/>
    <a:srgbClr val="2028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03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673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2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2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5156" y="1341069"/>
            <a:ext cx="7003875" cy="99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8200" kern="100" spc="-287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Four Winds</a:t>
            </a:r>
            <a:endParaRPr lang="en-US" sz="8200" dirty="0"/>
          </a:p>
        </p:txBody>
      </p:sp>
      <p:sp>
        <p:nvSpPr>
          <p:cNvPr id="4" name="Text 1"/>
          <p:cNvSpPr/>
          <p:nvPr/>
        </p:nvSpPr>
        <p:spPr>
          <a:xfrm>
            <a:off x="765156" y="2409123"/>
            <a:ext cx="7003875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100" spc="-50" dirty="0">
                <a:solidFill>
                  <a:srgbClr val="FFFFFF"/>
                </a:solidFill>
                <a:latin typeface="Montserrat Medium" pitchFamily="34" charset="0"/>
              </a:rPr>
              <a:t>By: Don’t join my team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65156" y="3029676"/>
            <a:ext cx="2311144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765156" y="3380931"/>
            <a:ext cx="7003875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A SEASONAL CRASH GAME WHERE THE WORLD TELLS PLAYERS DETERMINE YOUR RISK BY THE SEASONS.</a:t>
            </a:r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1C3874-BAA3-DE9B-F4F4-EF369EA97A17}"/>
              </a:ext>
            </a:extLst>
          </p:cNvPr>
          <p:cNvSpPr/>
          <p:nvPr/>
        </p:nvSpPr>
        <p:spPr>
          <a:xfrm>
            <a:off x="11046219" y="6514266"/>
            <a:ext cx="1145781" cy="343734"/>
          </a:xfrm>
          <a:prstGeom prst="rect">
            <a:avLst/>
          </a:prstGeom>
          <a:solidFill>
            <a:srgbClr val="2028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0A0DDE-F851-8E0A-0A62-EB183BA64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596" y="1388285"/>
            <a:ext cx="7406378" cy="49375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1541"/>
            <a:ext cx="5912992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Four seasons create four kinds of tension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719620"/>
            <a:ext cx="5912992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100" spc="-5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world tells players what they are signing up for.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09585" y="2685554"/>
            <a:ext cx="1951286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  <p:txBody>
          <a:bodyPr/>
          <a:lstStyle/>
          <a:p>
            <a:endParaRPr lang="en-CA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034903"/>
          <a:ext cx="5912992" cy="2727258"/>
        </p:xfrm>
        <a:graphic>
          <a:graphicData uri="http://schemas.openxmlformats.org/drawingml/2006/table">
            <a:tbl>
              <a:tblPr/>
              <a:tblGrid>
                <a:gridCol w="130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83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97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BF3F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Season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BF3F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Risk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BF3F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Instant crash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BF3F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Ceiling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Spring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Low risk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0%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Up to 10x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Summer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Medium risk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10%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Up to 50x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Autumn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High risk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20%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Up to 200x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8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Winter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Extreme risk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35%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Up to 1000x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5952887"/>
            <a:ext cx="652257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A8959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Seasons rotate every 4–9 seconds; each flight stays locked to the season it started in.</a:t>
            </a:r>
            <a:endParaRPr lang="en-US" sz="11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BF36DB-88DF-5026-58DA-07633B298F9B}"/>
              </a:ext>
            </a:extLst>
          </p:cNvPr>
          <p:cNvSpPr/>
          <p:nvPr/>
        </p:nvSpPr>
        <p:spPr>
          <a:xfrm>
            <a:off x="11046219" y="6514266"/>
            <a:ext cx="1145781" cy="343734"/>
          </a:xfrm>
          <a:prstGeom prst="rect">
            <a:avLst/>
          </a:prstGeom>
          <a:solidFill>
            <a:srgbClr val="120A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0AEE3BB-5DE9-4A8F-5222-677ED38A49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884"/>
          <a:stretch>
            <a:fillRect/>
          </a:stretch>
        </p:blipFill>
        <p:spPr>
          <a:xfrm>
            <a:off x="7229595" y="-476693"/>
            <a:ext cx="2041230" cy="50700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A33AFD-9A19-2540-FAAE-405974DFC7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16" r="50204"/>
          <a:stretch>
            <a:fillRect/>
          </a:stretch>
        </p:blipFill>
        <p:spPr>
          <a:xfrm>
            <a:off x="7229595" y="2468499"/>
            <a:ext cx="1854346" cy="51449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9341AA-5744-DD9E-9D28-28C1A0FE43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74265"/>
          <a:stretch>
            <a:fillRect/>
          </a:stretch>
        </p:blipFill>
        <p:spPr>
          <a:xfrm>
            <a:off x="9231349" y="-544970"/>
            <a:ext cx="2041231" cy="51449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8955752-4DF6-29B9-F68F-2A522CD7B2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126" r="26117"/>
          <a:stretch>
            <a:fillRect/>
          </a:stretch>
        </p:blipFill>
        <p:spPr>
          <a:xfrm>
            <a:off x="9493874" y="2505973"/>
            <a:ext cx="1778706" cy="5070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E507B8-CD05-CD33-64D4-E90EC5DC7F3C}"/>
              </a:ext>
            </a:extLst>
          </p:cNvPr>
          <p:cNvSpPr/>
          <p:nvPr/>
        </p:nvSpPr>
        <p:spPr>
          <a:xfrm>
            <a:off x="7148339" y="140164"/>
            <a:ext cx="4872350" cy="6529335"/>
          </a:xfrm>
          <a:prstGeom prst="roundRect">
            <a:avLst/>
          </a:prstGeom>
          <a:solidFill>
            <a:schemeClr val="bg1">
              <a:alpha val="38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609585" y="611505"/>
            <a:ext cx="603998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PLAYER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058962"/>
            <a:ext cx="5430404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400" kern="100" spc="-85" dirty="0">
                <a:solidFill>
                  <a:srgbClr val="FF5A7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demo takes flight</a:t>
            </a:r>
            <a:endParaRPr lang="en-US" sz="4400" dirty="0">
              <a:solidFill>
                <a:srgbClr val="FF5A7A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585" y="1675507"/>
            <a:ext cx="1791846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09585" y="2024855"/>
            <a:ext cx="5924704" cy="3895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20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Place your bet, watch the multiplier increase in real time and cash out before the bird reaches the ground.</a:t>
            </a:r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endParaRPr lang="en-US" sz="20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20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Season-specific hazards make the outcome legible and memorable.</a:t>
            </a:r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endParaRPr lang="en-US" sz="20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20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scene is 3D with a 2D fallback, plus reduced motion, sound controls and English/French UI.</a:t>
            </a: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12CD3A-2618-7424-A0E6-2F1459A592D9}"/>
              </a:ext>
            </a:extLst>
          </p:cNvPr>
          <p:cNvSpPr/>
          <p:nvPr/>
        </p:nvSpPr>
        <p:spPr>
          <a:xfrm>
            <a:off x="11046219" y="6514266"/>
            <a:ext cx="1145781" cy="343734"/>
          </a:xfrm>
          <a:prstGeom prst="rect">
            <a:avLst/>
          </a:prstGeom>
          <a:solidFill>
            <a:srgbClr val="120A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B05360-A9DA-1B0E-2B41-CE32AFC162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124"/>
          <a:stretch>
            <a:fillRect/>
          </a:stretch>
        </p:blipFill>
        <p:spPr>
          <a:xfrm>
            <a:off x="7354418" y="311446"/>
            <a:ext cx="4492735" cy="62351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9557" y="1499953"/>
            <a:ext cx="374898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TRUSTED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9557" y="1798574"/>
            <a:ext cx="3139401" cy="183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server decides; the client only draws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39557" y="3937043"/>
            <a:ext cx="1035818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39557" y="4286393"/>
            <a:ext cx="313940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client renders a result it never gets to choose.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979177" y="1367973"/>
            <a:ext cx="1348647" cy="19050"/>
          </a:xfrm>
          <a:prstGeom prst="rect">
            <a:avLst/>
          </a:prstGeom>
          <a:solidFill>
            <a:srgbClr val="FF5A7A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177" y="1517099"/>
            <a:ext cx="431789" cy="431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79177" y="2086825"/>
            <a:ext cx="1348647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Server owns state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979177" y="2887012"/>
            <a:ext cx="1348647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Balance, clock, round state, and crash point.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32616" y="1367973"/>
            <a:ext cx="1348647" cy="19050"/>
          </a:xfrm>
          <a:prstGeom prst="rect">
            <a:avLst/>
          </a:prstGeom>
          <a:solidFill>
            <a:srgbClr val="FF5A7A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616" y="1517099"/>
            <a:ext cx="431789" cy="431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32616" y="2086825"/>
            <a:ext cx="1348746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Outcome derives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32616" y="2887012"/>
            <a:ext cx="1348746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HMAC-SHA256 uses the hidden seed and round ID.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8286154" y="1367973"/>
            <a:ext cx="1348647" cy="19050"/>
          </a:xfrm>
          <a:prstGeom prst="rect">
            <a:avLst/>
          </a:prstGeom>
          <a:solidFill>
            <a:srgbClr val="FF5A7A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154" y="1517099"/>
            <a:ext cx="431789" cy="431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86154" y="2086825"/>
            <a:ext cx="1348746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Retries stay safe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286154" y="2887012"/>
            <a:ext cx="134874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Bet and cash-out retries are idempotent.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9939692" y="1367973"/>
            <a:ext cx="1348647" cy="19050"/>
          </a:xfrm>
          <a:prstGeom prst="rect">
            <a:avLst/>
          </a:prstGeom>
          <a:solidFill>
            <a:srgbClr val="FF5A7A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9692" y="1517099"/>
            <a:ext cx="431789" cy="4318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939692" y="2086825"/>
            <a:ext cx="1348746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States stay simple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9939692" y="2887012"/>
            <a:ext cx="1348746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FLYING → CASHED or CRASHED.</a:t>
            </a:r>
            <a:endParaRPr lang="en-US" sz="1700" dirty="0"/>
          </a:p>
        </p:txBody>
      </p:sp>
      <p:sp>
        <p:nvSpPr>
          <p:cNvPr id="22" name="Shape 16"/>
          <p:cNvSpPr/>
          <p:nvPr/>
        </p:nvSpPr>
        <p:spPr>
          <a:xfrm>
            <a:off x="4979177" y="4588614"/>
            <a:ext cx="6309262" cy="841970"/>
          </a:xfrm>
          <a:prstGeom prst="roundRect">
            <a:avLst>
              <a:gd name="adj" fmla="val 1357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17"/>
          <p:cNvSpPr/>
          <p:nvPr/>
        </p:nvSpPr>
        <p:spPr>
          <a:xfrm>
            <a:off x="5195071" y="4858489"/>
            <a:ext cx="648705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crash point is never streamed before settlement.</a:t>
            </a:r>
            <a:endParaRPr lang="en-US" sz="17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595775-392F-6859-39CB-8E9460AE6513}"/>
              </a:ext>
            </a:extLst>
          </p:cNvPr>
          <p:cNvSpPr/>
          <p:nvPr/>
        </p:nvSpPr>
        <p:spPr>
          <a:xfrm>
            <a:off x="11046219" y="6514266"/>
            <a:ext cx="1145781" cy="343734"/>
          </a:xfrm>
          <a:prstGeom prst="rect">
            <a:avLst/>
          </a:prstGeom>
          <a:solidFill>
            <a:srgbClr val="120A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PLAYER-VERIFIABLE FAIRNESS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Fairness is something players can check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30509"/>
            <a:ext cx="1097252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100" spc="-5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Commit first. Reveal later. Verify in the browser.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151063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09585" y="250041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876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585" y="2803227"/>
            <a:ext cx="3454314" cy="19050"/>
          </a:xfrm>
          <a:prstGeom prst="rect">
            <a:avLst/>
          </a:prstGeom>
          <a:solidFill>
            <a:srgbClr val="FF5A7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09585" y="2960799"/>
            <a:ext cx="3454314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Before the flight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09585" y="3432870"/>
            <a:ext cx="3454314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client gets generated with SHA-256(seed) as a commitment not in the same environment.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68691" y="250041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876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68691" y="2803227"/>
            <a:ext cx="3454314" cy="19050"/>
          </a:xfrm>
          <a:prstGeom prst="rect">
            <a:avLst/>
          </a:prstGeom>
          <a:solidFill>
            <a:srgbClr val="FF5A7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368691" y="2960799"/>
            <a:ext cx="3454314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After settlement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368691" y="3432870"/>
            <a:ext cx="345431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server reveals the seed.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27797" y="250041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876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127797" y="2803227"/>
            <a:ext cx="3454314" cy="19050"/>
          </a:xfrm>
          <a:prstGeom prst="rect">
            <a:avLst/>
          </a:prstGeom>
          <a:solidFill>
            <a:srgbClr val="FF5A7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8127797" y="2960799"/>
            <a:ext cx="3454314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Verify round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127797" y="3432870"/>
            <a:ext cx="345431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Recomputes the commitment and crash point in the browser.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09585" y="4530030"/>
            <a:ext cx="5333867" cy="1665387"/>
          </a:xfrm>
          <a:prstGeom prst="roundRect">
            <a:avLst>
              <a:gd name="adj" fmla="val 12811"/>
            </a:avLst>
          </a:prstGeom>
          <a:solidFill>
            <a:srgbClr val="1F1016"/>
          </a:solidFill>
          <a:ln w="12700">
            <a:solidFill>
              <a:srgbClr val="FBF3F0">
                <a:alpha val="14000"/>
              </a:srgbClr>
            </a:solidFill>
            <a:prstDash val="solid"/>
          </a:ln>
          <a:effectLst>
            <a:outerShdw blurRad="127" dist="11430" dir="5400000" algn="bl" rotWithShape="0">
              <a:srgbClr val="FBF3F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850879" y="4871533"/>
            <a:ext cx="4851279" cy="780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6400" kern="100" spc="-224" dirty="0">
                <a:solidFill>
                  <a:srgbClr val="FF5A7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97%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850879" y="5764471"/>
            <a:ext cx="509257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E6D9D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Confidence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48244" y="4530030"/>
            <a:ext cx="5333867" cy="1665387"/>
          </a:xfrm>
          <a:prstGeom prst="roundRect">
            <a:avLst>
              <a:gd name="adj" fmla="val 12811"/>
            </a:avLst>
          </a:prstGeom>
          <a:solidFill>
            <a:srgbClr val="1F1016"/>
          </a:solidFill>
          <a:ln w="12700">
            <a:solidFill>
              <a:srgbClr val="FBF3F0">
                <a:alpha val="14000"/>
              </a:srgbClr>
            </a:solidFill>
            <a:prstDash val="solid"/>
          </a:ln>
          <a:effectLst>
            <a:outerShdw blurRad="127" dist="11430" dir="5400000" algn="bl" rotWithShape="0">
              <a:srgbClr val="FBF3F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6489538" y="4871533"/>
            <a:ext cx="4851279" cy="780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6400" kern="100" spc="-224" dirty="0">
                <a:solidFill>
                  <a:srgbClr val="FF5A7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3%</a:t>
            </a:r>
            <a:endParaRPr lang="en-US" sz="6400" dirty="0"/>
          </a:p>
        </p:txBody>
      </p:sp>
      <p:sp>
        <p:nvSpPr>
          <p:cNvPr id="23" name="Text 21"/>
          <p:cNvSpPr/>
          <p:nvPr/>
        </p:nvSpPr>
        <p:spPr>
          <a:xfrm>
            <a:off x="6489538" y="5764471"/>
            <a:ext cx="509257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E6D9D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Edge, regardless of season</a:t>
            </a:r>
            <a:endParaRPr lang="en-US" sz="11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401E65-02E2-98CA-77D3-00C2BA419C8C}"/>
              </a:ext>
            </a:extLst>
          </p:cNvPr>
          <p:cNvSpPr/>
          <p:nvPr/>
        </p:nvSpPr>
        <p:spPr>
          <a:xfrm>
            <a:off x="11046219" y="6514266"/>
            <a:ext cx="1145781" cy="343734"/>
          </a:xfrm>
          <a:prstGeom prst="rect">
            <a:avLst/>
          </a:prstGeom>
          <a:solidFill>
            <a:srgbClr val="120A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62268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PROTECTION BY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460889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Protection is key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226270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899470"/>
            <a:ext cx="2514537" cy="27980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879" y="3473065"/>
            <a:ext cx="203194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Loss budget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50879" y="3945136"/>
            <a:ext cx="2031949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player can set a loss budget if they want; wagers beyond the remaining budget are refused.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914" y="2899470"/>
            <a:ext cx="2514537" cy="27980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70208" y="3473065"/>
            <a:ext cx="203194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Plain signals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3670208" y="3945136"/>
            <a:ext cx="2031949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Risk levels explain chasing losses, fast play, long sessions, and large wagers.</a:t>
            </a:r>
            <a:endParaRPr lang="en-US" sz="1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244" y="2899470"/>
            <a:ext cx="2514537" cy="27980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89538" y="3473065"/>
            <a:ext cx="203194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Friction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6489538" y="3945136"/>
            <a:ext cx="2031949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Reality checks, loss-streak notices, and a 30-second cool-off add friction before harm compounds.</a:t>
            </a:r>
            <a:endParaRPr lang="en-US" sz="1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7573" y="2899470"/>
            <a:ext cx="2514537" cy="27980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308867" y="3473065"/>
            <a:ext cx="203194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Human review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9308867" y="3945136"/>
            <a:ext cx="2031949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Fraud flags never block a player automatically; a person decides.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1543011" y="2588320"/>
            <a:ext cx="647684" cy="647700"/>
          </a:xfrm>
          <a:prstGeom prst="ellipse">
            <a:avLst/>
          </a:prstGeom>
          <a:solidFill>
            <a:srgbClr val="FF5A7A"/>
          </a:solidFill>
          <a:ln w="12700">
            <a:solidFill>
              <a:srgbClr val="99381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7632" y="2762945"/>
            <a:ext cx="298443" cy="29845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4362341" y="2588320"/>
            <a:ext cx="647684" cy="647700"/>
          </a:xfrm>
          <a:prstGeom prst="ellipse">
            <a:avLst/>
          </a:prstGeom>
          <a:solidFill>
            <a:srgbClr val="FF5A7A"/>
          </a:solidFill>
          <a:ln w="12700">
            <a:solidFill>
              <a:srgbClr val="99381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6961" y="2762945"/>
            <a:ext cx="298443" cy="29845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7181670" y="2588320"/>
            <a:ext cx="647684" cy="647700"/>
          </a:xfrm>
          <a:prstGeom prst="ellipse">
            <a:avLst/>
          </a:prstGeom>
          <a:solidFill>
            <a:srgbClr val="FF5A7A"/>
          </a:solidFill>
          <a:ln w="12700">
            <a:solidFill>
              <a:srgbClr val="99381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6291" y="2762945"/>
            <a:ext cx="298443" cy="298450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10001000" y="2588320"/>
            <a:ext cx="647684" cy="647700"/>
          </a:xfrm>
          <a:prstGeom prst="ellipse">
            <a:avLst/>
          </a:prstGeom>
          <a:solidFill>
            <a:srgbClr val="FF5A7A"/>
          </a:solidFill>
          <a:ln w="12700">
            <a:solidFill>
              <a:srgbClr val="99381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75620" y="2762945"/>
            <a:ext cx="298443" cy="29845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F8DE56C-9EC7-E842-80FC-F1973537F962}"/>
              </a:ext>
            </a:extLst>
          </p:cNvPr>
          <p:cNvSpPr/>
          <p:nvPr/>
        </p:nvSpPr>
        <p:spPr>
          <a:xfrm>
            <a:off x="11046219" y="6514266"/>
            <a:ext cx="1145781" cy="343734"/>
          </a:xfrm>
          <a:prstGeom prst="rect">
            <a:avLst/>
          </a:prstGeom>
          <a:solidFill>
            <a:srgbClr val="120A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771128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JUDGEABLE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126"/>
            <a:ext cx="7101702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Sentinel makes the demo judgable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133203"/>
            <a:ext cx="2343488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482556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7269" y="2490998"/>
            <a:ext cx="282696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Live status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257269" y="2963069"/>
            <a:ext cx="2826969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Clear, Watch, or Review with an evidence meter and plain-language reasoning.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634" y="2482556"/>
            <a:ext cx="431789" cy="431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84318" y="2490998"/>
            <a:ext cx="282696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Fair-return check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4884318" y="2963069"/>
            <a:ext cx="2826969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Tests whether fixed-target wins exceed the odds, then checks return against the 97% fair return.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257269" y="4332796"/>
            <a:ext cx="282696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Safe simulation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1257269" y="4804866"/>
            <a:ext cx="2826969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Judges can run a synthetic cheater simulation: the meter climbs toward REVIEW in about 8 seconds without touching the real balance.</a:t>
            </a:r>
            <a:endParaRPr lang="en-US" sz="17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6634" y="4324354"/>
            <a:ext cx="431789" cy="431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84318" y="4332796"/>
            <a:ext cx="282696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Prototype proof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4884318" y="4804866"/>
            <a:ext cx="282696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Built with Node.js, includes an AI agent for fraud detection.</a:t>
            </a:r>
            <a:endParaRPr lang="en-US" sz="17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5565" y="0"/>
            <a:ext cx="356613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469</Words>
  <Application>Microsoft Office PowerPoint</Application>
  <PresentationFormat>Widescreen</PresentationFormat>
  <Paragraphs>88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Heebo</vt:lpstr>
      <vt:lpstr>Heebo Light</vt:lpstr>
      <vt:lpstr>Montserrat Medium</vt:lpstr>
      <vt:lpstr>Arial</vt:lpstr>
      <vt:lpstr>Heebo SemiBold</vt:lpstr>
      <vt:lpstr>Heebo Medium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Harris Adedeji</cp:lastModifiedBy>
  <cp:revision>3</cp:revision>
  <dcterms:created xsi:type="dcterms:W3CDTF">2026-10-16T00:19:34Z</dcterms:created>
  <dcterms:modified xsi:type="dcterms:W3CDTF">2026-10-16T15:49:02Z</dcterms:modified>
</cp:coreProperties>
</file>